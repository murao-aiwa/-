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51200"/>
            <a:ext cx="6300000" cy="198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日向和田精密製作所様向け　レーザーマーキングシステム検討　／　F-Design 松本様 設計検討用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0000" y="151200"/>
            <a:ext cx="4032000" cy="198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r"/>
            <a:r>
              <a:rPr sz="9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2026年10月6日　株式会社アイワエンジニアリング　村尾充生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360000"/>
            <a:ext cx="9972000" cy="3780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ctr"/>
            <a:r>
              <a:rPr sz="22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レーザーマーキングシステム｜全体構想イメージ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63200"/>
            <a:ext cx="9972000" cy="424800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60000" y="763200"/>
            <a:ext cx="57600" cy="424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68000" y="763200"/>
            <a:ext cx="9828000" cy="4248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l">
              <a:lnSpc>
                <a:spcPts val="1620"/>
              </a:lnSpc>
            </a:pPr>
            <a:r>
              <a:rPr sz="13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手動レバーによるワーク交換と装置からの回転制御を両立するナカニシ案を検討します。現状の標準構成では150～4,500回転／分の全域対応が成立しておらず、接続適合・速度範囲・速度設定・装置固定についてメーカー確認後に採否を判断します。</a:t>
            </a:r>
          </a:p>
        </p:txBody>
      </p:sp>
      <p:pic>
        <p:nvPicPr>
          <p:cNvPr id="8" name="Picture 7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9" y="1209600"/>
            <a:ext cx="9849600" cy="43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2000" y="1310400"/>
            <a:ext cx="2068267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① レーザー発振器（トルンプ製）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型式・出力・電源条件は要確認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56000" y="1657213"/>
            <a:ext cx="934876" cy="1008371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312000" y="1238400"/>
            <a:ext cx="1424356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① 照射ヘッド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正式な光学構成は要確認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48356" y="1585213"/>
            <a:ext cx="557602" cy="1022569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48000" y="1238400"/>
            <a:ext cx="1649164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⑦ 排気・冷却・電源・配線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要否・容量は要確認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927587" y="1436400"/>
            <a:ext cx="120413" cy="139305"/>
          </a:xfrm>
          <a:prstGeom prst="line">
            <a:avLst/>
          </a:prstGeom>
          <a:ln w="11430">
            <a:solidFill>
              <a:srgbClr val="D9822B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316000" y="1353600"/>
            <a:ext cx="1719014" cy="489179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⑥ 遮光筐体・扉・安全機能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扉インターロック・非常停止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（構成・評価は設計で確定）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830351" y="1752780"/>
            <a:ext cx="1485649" cy="683354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93600" y="2174400"/>
            <a:ext cx="1267788" cy="489179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② ナカニシ回転部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ワークを保持・回転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（詳細は次ページ）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285865" y="2663580"/>
            <a:ext cx="387735" cy="713104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98000" y="3873600"/>
            <a:ext cx="1351623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③ 保持金具・ベース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固定方法は要確認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246000" y="3719519"/>
            <a:ext cx="17308" cy="154081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798000" y="4370400"/>
            <a:ext cx="1509464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④ 焦点・位置の調整部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方式・移動量は要確認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091464" y="3707020"/>
            <a:ext cx="195035" cy="663380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982000" y="2988000"/>
            <a:ext cx="1484565" cy="631547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⑤ 制御盤・操作画面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PLC（自動制御装置）・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E2280・安全回路を収納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（配置は仮）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557171" y="3276000"/>
            <a:ext cx="424829" cy="210556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2000" y="4554000"/>
            <a:ext cx="1116000" cy="936000"/>
          </a:xfrm>
          <a:prstGeom prst="rect">
            <a:avLst/>
          </a:prstGeom>
          <a:noFill/>
        </p:spPr>
        <p:txBody>
          <a:bodyPr wrap="square" lIns="10800" tIns="7200" rIns="10800" bIns="7200" anchor="t"/>
          <a:lstStyle/>
          <a:p>
            <a:pPr algn="l">
              <a:lnSpc>
                <a:spcPts val="1080"/>
              </a:lnSpc>
            </a:pPr>
            <a:r>
              <a:rPr sz="9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構想図（模式）</a:t>
            </a:r>
          </a:p>
          <a:p>
            <a:pPr algn="l">
              <a:lnSpc>
                <a:spcPts val="1080"/>
              </a:lnSpc>
            </a:pPr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配置・寸法・接続適合は未確定。説明のため筐体を透視表示。</a:t>
            </a:r>
          </a:p>
          <a:p>
            <a:pPr algn="l">
              <a:lnSpc>
                <a:spcPts val="1080"/>
              </a:lnSpc>
            </a:pPr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黒線：配線（模式）</a:t>
            </a:r>
          </a:p>
          <a:p>
            <a:pPr algn="l">
              <a:lnSpc>
                <a:spcPts val="1080"/>
              </a:lnSpc>
            </a:pPr>
            <a:r>
              <a:rPr sz="90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橙破線：要否・仕様が未確定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0000" y="5544000"/>
            <a:ext cx="10044000" cy="0"/>
          </a:xfrm>
          <a:prstGeom prst="line">
            <a:avLst/>
          </a:prstGeom>
          <a:ln w="9525">
            <a:solidFill>
              <a:srgbClr val="AFC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5594400"/>
            <a:ext cx="1188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目的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4000" y="5594400"/>
            <a:ext cx="8820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［確定］</a:t>
            </a: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歯科用ダイヤモンド工具を回しながら、先端のダイヤモンド部に円周方向の目盛り線をレーザーで付けます。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5847404"/>
            <a:ext cx="1188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基本要求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4000" y="5847404"/>
            <a:ext cx="8820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［確定］</a:t>
            </a: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把持径φ1.6／φ2.35 mm、加工径φ0.34～8.0 mm（主にφ0.34～2.7 mm）、線幅0.5 mm、回転数150～4,500 rpm（毎分回転数・要求値）。初期は1本ずつ横向きで加工します。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310212"/>
            <a:ext cx="1188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運転の考え方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4000" y="6310212"/>
            <a:ext cx="8820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1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［仮定］</a:t>
            </a: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品番を選ぶと、レーザープログラムと回転条件を一組（レシピ）で呼び出します。回転数は把持径ではなく、照射位置の加工径と周速（検討基準60～80 mm/s）で決めます。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6773020"/>
            <a:ext cx="1188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現在の段階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4000" y="6773020"/>
            <a:ext cx="8820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［要確認］</a:t>
            </a: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構想段階。配置・寸法・周辺機器の型式は未確定で、ナカニシ案はメーカー回答後に採否を判断します。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7034400"/>
            <a:ext cx="9972000" cy="144000"/>
          </a:xfrm>
          <a:prstGeom prst="rect">
            <a:avLst/>
          </a:prstGeom>
          <a:noFill/>
        </p:spPr>
        <p:txBody>
          <a:bodyPr wrap="square" lIns="14400" tIns="3600" rIns="14400" bIns="3600" anchor="t"/>
          <a:lstStyle/>
          <a:p>
            <a:pPr algn="l"/>
            <a:r>
              <a:rPr sz="8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区分　</a:t>
            </a:r>
            <a:r>
              <a:rPr sz="8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確定</a:t>
            </a:r>
            <a:r>
              <a:rPr sz="8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：資料・依頼で確認した要求・事実（機器の達成とは別）　</a:t>
            </a:r>
            <a:r>
              <a:rPr sz="850" b="1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仮定</a:t>
            </a:r>
            <a:r>
              <a:rPr sz="8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：検討用の構成・配置・動作案（採用承認前）　</a:t>
            </a:r>
            <a:r>
              <a:rPr sz="85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要確認</a:t>
            </a:r>
            <a:r>
              <a:rPr sz="8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：メーカー回答・設計計算・顧客承認・実測が不足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0000" y="7185600"/>
            <a:ext cx="9972000" cy="0"/>
          </a:xfrm>
          <a:prstGeom prst="line">
            <a:avLst/>
          </a:prstGeom>
          <a:ln w="7620">
            <a:solidFill>
              <a:srgbClr val="C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0000" y="7203600"/>
            <a:ext cx="9000000" cy="273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019"/>
              </a:lnSpc>
            </a:pPr>
            <a:r>
              <a:rPr sz="8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参照：20260709議事録（村尾）、20260831検討資料、20260904打合せ議事録、20261006仕様確定整理（いずれも社内資料）。出典・計算の詳細は技術確認メモを参照。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2000" y="7203600"/>
            <a:ext cx="900000" cy="180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r"/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1／3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51200"/>
            <a:ext cx="6300000" cy="198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日向和田精密製作所様向け　レーザーマーキングシステム検討　／　F-Design 松本様 設計検討用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0000" y="151200"/>
            <a:ext cx="4032000" cy="198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r"/>
            <a:r>
              <a:rPr sz="9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2026年10月6日　株式会社アイワエンジニアリング　村尾充生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360000"/>
            <a:ext cx="9972000" cy="3780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ctr"/>
            <a:r>
              <a:rPr sz="22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ナカニシ回転部｜検討構成イメージ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34400"/>
            <a:ext cx="9972000" cy="2376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ctr"/>
            <a:r>
              <a:rPr sz="1250" b="0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IH-300＋ARG-01＋EM-2350J＋E2280：メーカーへ適合確認する候補構成（採用・接続保証済みではありません）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41" y="986400"/>
            <a:ext cx="10094516" cy="439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6000" y="1008000"/>
            <a:ext cx="1739945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把持部（シャンク）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把持径 φ1.6／φ2.35 mm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751806" y="1354813"/>
            <a:ext cx="330139" cy="1126876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7580" y="3451935"/>
            <a:ext cx="1440000" cy="144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先端部の拡大（模式）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000" y="3603135"/>
            <a:ext cx="1810815" cy="489179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加工部（ダイヤモンド部）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加工径 φ0.34～8.0 mm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ここに目盛り線（線幅0.5 mm）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882000" y="2658489"/>
            <a:ext cx="97141" cy="944646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8000" y="4164315"/>
            <a:ext cx="1463304" cy="586589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121"/>
              </a:lnSpc>
            </a:pPr>
            <a:r>
              <a:rPr sz="95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差し込み深さ</a:t>
            </a:r>
          </a:p>
          <a:p>
            <a:pPr algn="l">
              <a:lnSpc>
                <a:spcPts val="1062"/>
              </a:lnSpc>
            </a:pPr>
            <a:r>
              <a:rPr sz="90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調整機構は今回の対象外</a:t>
            </a:r>
          </a:p>
          <a:p>
            <a:pPr algn="l">
              <a:lnSpc>
                <a:spcPts val="1062"/>
              </a:lnSpc>
            </a:pPr>
            <a:r>
              <a:rPr sz="90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先端位置の再現性に関わる</a:t>
            </a:r>
          </a:p>
          <a:p>
            <a:pPr algn="l">
              <a:lnSpc>
                <a:spcPts val="1062"/>
              </a:lnSpc>
            </a:pPr>
            <a:r>
              <a:rPr sz="90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継続課題として扱う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109" y="1533600"/>
            <a:ext cx="970242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① 照射ヘッド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位置は模式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895509" y="1749600"/>
            <a:ext cx="75600" cy="14400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24000" y="1987200"/>
            <a:ext cx="1938301" cy="773913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②-1 IH-300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手動レバー式アタッチメント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コレット（軸を締め付ける保持具）で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ワークを保持。レバーで着脱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（停止を確認してから操作）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52483" y="2761114"/>
            <a:ext cx="7200" cy="511030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76000" y="1785600"/>
            <a:ext cx="1454402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②-2 ARG-01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減速器（減速比1/3.92）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263960" y="2132413"/>
            <a:ext cx="64040" cy="829092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74000" y="1202400"/>
            <a:ext cx="1267652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②-3 EM-2350J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駆動モーター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850654" y="1549213"/>
            <a:ext cx="374998" cy="962948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70000" y="2232000"/>
            <a:ext cx="1039354" cy="201600"/>
          </a:xfrm>
          <a:prstGeom prst="roundRect">
            <a:avLst/>
          </a:prstGeom>
          <a:solidFill>
            <a:srgbClr val="FFF1DF"/>
          </a:solidFill>
          <a:ln w="127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tIns="3600" rIns="18000" bIns="3600"/>
          <a:lstStyle/>
          <a:p>
            <a:pPr algn="ctr"/>
            <a:r>
              <a:rPr sz="10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接続適合 要確認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628820" y="2433600"/>
            <a:ext cx="221180" cy="302638"/>
          </a:xfrm>
          <a:prstGeom prst="line">
            <a:avLst/>
          </a:prstGeom>
          <a:ln w="12700">
            <a:solidFill>
              <a:srgbClr val="D9822B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20000" y="4032000"/>
            <a:ext cx="1039354" cy="201600"/>
          </a:xfrm>
          <a:prstGeom prst="roundRect">
            <a:avLst/>
          </a:prstGeom>
          <a:solidFill>
            <a:srgbClr val="FFF1DF"/>
          </a:solidFill>
          <a:ln w="127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tIns="3600" rIns="18000" bIns="3600"/>
          <a:lstStyle/>
          <a:p>
            <a:pPr algn="ctr"/>
            <a:r>
              <a:rPr sz="10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接続適合 要確認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279354" y="3578974"/>
            <a:ext cx="299700" cy="453026"/>
          </a:xfrm>
          <a:prstGeom prst="line">
            <a:avLst/>
          </a:prstGeom>
          <a:ln w="12700">
            <a:solidFill>
              <a:srgbClr val="D9822B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680000" y="4356000"/>
            <a:ext cx="1846631" cy="346812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③ 保持金具（形状は仮）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装置への固定位置・方法は要確認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040000" y="3699632"/>
            <a:ext cx="204230" cy="656368"/>
          </a:xfrm>
          <a:prstGeom prst="line">
            <a:avLst/>
          </a:prstGeom>
          <a:ln w="11430">
            <a:solidFill>
              <a:srgbClr val="2E6DB4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120000" y="3302819"/>
            <a:ext cx="545016" cy="1053181"/>
          </a:xfrm>
          <a:prstGeom prst="line">
            <a:avLst/>
          </a:prstGeom>
          <a:ln w="11430">
            <a:solidFill>
              <a:srgbClr val="2E6DB4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36000" y="3348000"/>
            <a:ext cx="2075855" cy="773913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400" tIns="18000" rIns="32400" bIns="10800"/>
          <a:lstStyle/>
          <a:p>
            <a:pPr algn="l">
              <a:lnSpc>
                <a:spcPts val="1297"/>
              </a:lnSpc>
            </a:pPr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②-4 E2280（コントローラー）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回転部とは別置き（⑤制御盤内など）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PLCから起動・停止・速度指令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（指令方式・設定刻み・モーター</a:t>
            </a:r>
          </a:p>
          <a:p>
            <a:pPr algn="l">
              <a:lnSpc>
                <a:spcPts val="1121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コードの付属範囲は要確認）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8598658" y="3024423"/>
            <a:ext cx="77342" cy="323577"/>
          </a:xfrm>
          <a:prstGeom prst="line">
            <a:avLst/>
          </a:prstGeom>
          <a:ln w="11430">
            <a:solidFill>
              <a:srgbClr val="1F3A5F"/>
            </a:solidFill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738000" y="2053283"/>
            <a:ext cx="648000" cy="165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r"/>
            <a:r>
              <a:rPr sz="950" b="1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PLCへ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8000" y="5025600"/>
            <a:ext cx="360000" cy="165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凡例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52000" y="5108400"/>
            <a:ext cx="216000" cy="0"/>
          </a:xfrm>
          <a:prstGeom prst="line">
            <a:avLst/>
          </a:prstGeom>
          <a:ln w="22225">
            <a:solidFill>
              <a:srgbClr val="D982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86000" y="5025600"/>
            <a:ext cx="972000" cy="165600"/>
          </a:xfrm>
          <a:prstGeom prst="rect">
            <a:avLst/>
          </a:prstGeom>
          <a:noFill/>
        </p:spPr>
        <p:txBody>
          <a:bodyPr wrap="square" lIns="10800" tIns="7200" rIns="10800" bIns="72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接続適合が未確認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66000" y="5108400"/>
            <a:ext cx="216000" cy="0"/>
          </a:xfrm>
          <a:prstGeom prst="line">
            <a:avLst/>
          </a:prstGeom>
          <a:ln w="22225">
            <a:solidFill>
              <a:srgbClr val="2E6D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00000" y="5025600"/>
            <a:ext cx="1143450" cy="165600"/>
          </a:xfrm>
          <a:prstGeom prst="rect">
            <a:avLst/>
          </a:prstGeom>
          <a:noFill/>
        </p:spPr>
        <p:txBody>
          <a:bodyPr wrap="square" lIns="10800" tIns="7200" rIns="10800" bIns="72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形状・固定方法が未定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51450" y="5108400"/>
            <a:ext cx="216000" cy="0"/>
          </a:xfrm>
          <a:prstGeom prst="line">
            <a:avLst/>
          </a:prstGeom>
          <a:ln w="22225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85450" y="5025600"/>
            <a:ext cx="793690" cy="165600"/>
          </a:xfrm>
          <a:prstGeom prst="rect">
            <a:avLst/>
          </a:prstGeom>
          <a:noFill/>
        </p:spPr>
        <p:txBody>
          <a:bodyPr wrap="square" lIns="10800" tIns="7200" rIns="10800" bIns="72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モーターコード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87140" y="5108400"/>
            <a:ext cx="216000" cy="0"/>
          </a:xfrm>
          <a:prstGeom prst="line">
            <a:avLst/>
          </a:prstGeom>
          <a:ln w="22225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21140" y="5025600"/>
            <a:ext cx="490804" cy="165600"/>
          </a:xfrm>
          <a:prstGeom prst="rect">
            <a:avLst/>
          </a:prstGeom>
          <a:noFill/>
        </p:spPr>
        <p:txBody>
          <a:bodyPr wrap="square" lIns="10800" tIns="7200" rIns="10800" bIns="72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レーザー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5194799"/>
            <a:ext cx="5400000" cy="1584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構想図（模式）。形状・寸法・接続方法は実物と異なり、配置・寸法・接続適合は未確定です。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0000" y="5436000"/>
            <a:ext cx="6894000" cy="0"/>
          </a:xfrm>
          <a:prstGeom prst="line">
            <a:avLst/>
          </a:prstGeom>
          <a:ln w="9525">
            <a:solidFill>
              <a:srgbClr val="AFC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0000" y="5486400"/>
            <a:ext cx="864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検討構成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0000" y="5486400"/>
            <a:ext cx="5994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1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［仮定］</a:t>
            </a: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IH-300＋ARG-01＋EM-2350Jを装置に固定し、E2280をPLCから操作して起動・停止・回転数を指定します。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5949208"/>
            <a:ext cx="864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把持・回転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0000" y="5949208"/>
            <a:ext cx="5994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［確定］</a:t>
            </a: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回転数150～4,500 rpm、把持径φ1.6／φ2.35 mmが要求条件です（この構成での達成は未確認）。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000" y="6412016"/>
            <a:ext cx="864000" cy="654611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接続・固定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0000" y="6412016"/>
            <a:ext cx="5994000" cy="654611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［要確認］</a:t>
            </a: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4機器の接続適合と付属品、装置固定での連続使用、φ1.6 mm用コレット（標準付属はφ2.35／3.0 mm）、ワーク保持への適用（保持力・振れ・軸方向の動き・着脱再現性）はメーカー未回答。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80000" y="5436000"/>
            <a:ext cx="3024000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/>
            <a:r>
              <a:rPr sz="1000" b="1" i="0" lang="ja-JP" altLang="en-US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回転数の制約（標準構成・計算値）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80000" y="5652000"/>
            <a:ext cx="648000" cy="194400"/>
          </a:xfrm>
          <a:prstGeom prst="rect">
            <a:avLst/>
          </a:prstGeom>
          <a:solidFill>
            <a:srgbClr val="E3EC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/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減速器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28000" y="5652000"/>
            <a:ext cx="1368000" cy="194400"/>
          </a:xfrm>
          <a:prstGeom prst="rect">
            <a:avLst/>
          </a:prstGeom>
          <a:solidFill>
            <a:srgbClr val="E3EC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/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ワーク側の計算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96000" y="5652000"/>
            <a:ext cx="1008000" cy="194400"/>
          </a:xfrm>
          <a:prstGeom prst="rect">
            <a:avLst/>
          </a:prstGeom>
          <a:solidFill>
            <a:srgbClr val="E3EC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/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要求との関係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80000" y="5846400"/>
            <a:ext cx="648000" cy="3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ARG-01</a:t>
            </a:r>
          </a:p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1/3.92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28000" y="5846400"/>
            <a:ext cx="1368000" cy="3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ts val="1080"/>
              </a:lnSpc>
            </a:pPr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下限 1,000÷3.92</a:t>
            </a:r>
          </a:p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≒255 rpm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96000" y="5846400"/>
            <a:ext cx="1008000" cy="3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150 rpmに</a:t>
            </a:r>
          </a:p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届かない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80000" y="6184800"/>
            <a:ext cx="648000" cy="3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ARG-02</a:t>
            </a:r>
          </a:p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1/15.39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28000" y="6184800"/>
            <a:ext cx="1368000" cy="3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ts val="1080"/>
              </a:lnSpc>
            </a:pPr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上限 30,000÷15.39</a:t>
            </a:r>
          </a:p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≒1,950 rpm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96000" y="6184800"/>
            <a:ext cx="1008000" cy="3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4,500 rpmに</a:t>
            </a:r>
          </a:p>
          <a:p>
            <a:pPr algn="ctr">
              <a:lnSpc>
                <a:spcPts val="1080"/>
              </a:lnSpc>
            </a:pPr>
            <a:r>
              <a:rPr sz="9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届かない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80000" y="6523200"/>
            <a:ext cx="3024000" cy="53832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8800" tIns="10800" rIns="28800" bIns="7200"/>
          <a:lstStyle/>
          <a:p>
            <a:pPr algn="l">
              <a:lnSpc>
                <a:spcPts val="1002"/>
              </a:lnSpc>
            </a:pPr>
            <a:r>
              <a:rPr sz="8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要求150～4,500 rpm。モーター下限1,000 rpm、減速器の入力上限30,000 rpmで計算。E2280の設定単位が1,000 rpmなら、刻みはワーク側で約255／約65 rpm（要確認）。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80000" y="5436000"/>
            <a:ext cx="3024000" cy="1625524"/>
          </a:xfrm>
          <a:prstGeom prst="rect">
            <a:avLst/>
          </a:prstGeom>
          <a:noFill/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0" name="Connector 59"/>
          <p:cNvCxnSpPr/>
          <p:nvPr/>
        </p:nvCxnSpPr>
        <p:spPr>
          <a:xfrm>
            <a:off x="360000" y="7185600"/>
            <a:ext cx="9972000" cy="0"/>
          </a:xfrm>
          <a:prstGeom prst="line">
            <a:avLst/>
          </a:prstGeom>
          <a:ln w="7620">
            <a:solidFill>
              <a:srgbClr val="C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60000" y="7203600"/>
            <a:ext cx="9000000" cy="273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019"/>
              </a:lnSpc>
            </a:pPr>
            <a:r>
              <a:rPr sz="8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参照：ナカニシ公式仕様・E2280取扱説明書（2026年9月17日確認の記録：20260917案A調査追記版）、20261006仕様確定整理。今回は通信制限のため公式ページを再照合できず。詳細は技術確認メモ。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32000" y="7203600"/>
            <a:ext cx="900000" cy="180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r"/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2／3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51200"/>
            <a:ext cx="6300000" cy="198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日向和田精密製作所様向け　レーザーマーキングシステム検討　／　F-Design 松本様 設計検討用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0000" y="151200"/>
            <a:ext cx="4032000" cy="198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r"/>
            <a:r>
              <a:rPr sz="9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2026年10月6日　株式会社アイワエンジニアリング　村尾充生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360000"/>
            <a:ext cx="9972000" cy="3780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ctr"/>
            <a:r>
              <a:rPr sz="22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動作の流れと制御の関係｜次の確認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34400"/>
            <a:ext cx="9972000" cy="2376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ctr"/>
            <a:r>
              <a:rPr sz="1250" b="0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通常動作の検討案（信号の名称・端子・指令方式は未確定のため、機能名で表示）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58400"/>
            <a:ext cx="1778400" cy="1098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432000" y="1130400"/>
            <a:ext cx="295200" cy="295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lang="ja-JP" altLang="en-US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123200"/>
            <a:ext cx="1346400" cy="3096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l"/>
            <a:r>
              <a:rPr sz="12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セット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200" y="1454400"/>
            <a:ext cx="1620000" cy="684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260"/>
              </a:lnSpc>
            </a:pPr>
            <a:r>
              <a:rPr sz="10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停止状態で品番を選択し、ワークを差し込んで手動レバーで保持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74400" y="1477800"/>
            <a:ext cx="198000" cy="259200"/>
          </a:xfrm>
          <a:prstGeom prst="rightArrow">
            <a:avLst/>
          </a:prstGeom>
          <a:solidFill>
            <a:srgbClr val="8AA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408400" y="1058400"/>
            <a:ext cx="1778400" cy="1098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2480400" y="1130400"/>
            <a:ext cx="295200" cy="295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lang="ja-JP" altLang="en-US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400" y="1123200"/>
            <a:ext cx="1346400" cy="3096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l"/>
            <a:r>
              <a:rPr sz="12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扉閉・条件確認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600" y="1454400"/>
            <a:ext cx="1620000" cy="684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260"/>
              </a:lnSpc>
            </a:pPr>
            <a:r>
              <a:rPr sz="10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扉を閉めて安全条件を確認。レーザープログラムと回転条件を呼出し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22800" y="1477800"/>
            <a:ext cx="198000" cy="259200"/>
          </a:xfrm>
          <a:prstGeom prst="rightArrow">
            <a:avLst/>
          </a:prstGeom>
          <a:solidFill>
            <a:srgbClr val="8AA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456800" y="1058400"/>
            <a:ext cx="1778400" cy="1098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528800" y="1130400"/>
            <a:ext cx="295200" cy="295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lang="ja-JP" altLang="en-US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2800" y="1123200"/>
            <a:ext cx="1346400" cy="3096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l"/>
            <a:r>
              <a:rPr sz="12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回転・準備確認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1454400"/>
            <a:ext cx="1620000" cy="684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260"/>
              </a:lnSpc>
            </a:pPr>
            <a:r>
              <a:rPr sz="10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回転開始後、実回転が条件内に入ったことと、レーザー準備完了を確認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271200" y="1477800"/>
            <a:ext cx="198000" cy="259200"/>
          </a:xfrm>
          <a:prstGeom prst="rightArrow">
            <a:avLst/>
          </a:prstGeom>
          <a:solidFill>
            <a:srgbClr val="8AA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505200" y="1058400"/>
            <a:ext cx="1778400" cy="1098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577200" y="1130400"/>
            <a:ext cx="295200" cy="295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lang="ja-JP" altLang="en-US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1200" y="1123200"/>
            <a:ext cx="1346400" cy="3096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l"/>
            <a:r>
              <a:rPr sz="12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レーザー加工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4400" y="1454400"/>
            <a:ext cx="1620000" cy="684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260"/>
              </a:lnSpc>
            </a:pPr>
            <a:r>
              <a:rPr sz="10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マーキングを実行。加工完了を受けて回転停止を指令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319600" y="1477800"/>
            <a:ext cx="198000" cy="259200"/>
          </a:xfrm>
          <a:prstGeom prst="rightArrow">
            <a:avLst/>
          </a:prstGeom>
          <a:solidFill>
            <a:srgbClr val="8AA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553600" y="1058400"/>
            <a:ext cx="1778400" cy="1098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625600" y="1130400"/>
            <a:ext cx="295200" cy="295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lang="ja-JP" altLang="en-US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9600" y="1123200"/>
            <a:ext cx="1346400" cy="309600"/>
          </a:xfrm>
          <a:prstGeom prst="rect">
            <a:avLst/>
          </a:prstGeom>
          <a:noFill/>
        </p:spPr>
        <p:txBody>
          <a:bodyPr wrap="square" lIns="21600" tIns="10800" rIns="21600" bIns="10800" anchor="ctr"/>
          <a:lstStyle/>
          <a:p>
            <a:pPr algn="l"/>
            <a:r>
              <a:rPr sz="12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停止確認・取出し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2800" y="1454400"/>
            <a:ext cx="1620000" cy="684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260"/>
              </a:lnSpc>
            </a:pPr>
            <a:r>
              <a:rPr sz="10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レーザー停止・回転停止を確認してから解錠し、レバーを解除して取出し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2174400"/>
            <a:ext cx="9972000" cy="374400"/>
          </a:xfrm>
          <a:prstGeom prst="rect">
            <a:avLst/>
          </a:prstGeom>
          <a:noFill/>
        </p:spPr>
        <p:txBody>
          <a:bodyPr wrap="square" lIns="14400" tIns="7200" rIns="14400" bIns="7200" anchor="t"/>
          <a:lstStyle/>
          <a:p>
            <a:pPr algn="l">
              <a:lnSpc>
                <a:spcPts val="1320"/>
              </a:lnSpc>
            </a:pPr>
            <a:r>
              <a:rPr sz="1100" b="1" i="0" lang="ja-JP" altLang="en-US">
                <a:solidFill>
                  <a:srgbClr val="C62828"/>
                </a:solidFill>
                <a:latin typeface="BIZ UDPGothic"/>
                <a:ea typeface="BIZ UDPGothic"/>
                <a:cs typeface="BIZ UDPGothic"/>
              </a:rPr>
              <a:t>安全（案）：</a:t>
            </a:r>
            <a:r>
              <a:rPr sz="1100" b="0" i="0" lang="ja-JP" altLang="en-US">
                <a:solidFill>
                  <a:srgbClr val="C62828"/>
                </a:solidFill>
                <a:latin typeface="BIZ UDPGothic"/>
                <a:ea typeface="BIZ UDPGothic"/>
                <a:cs typeface="BIZ UDPGothic"/>
              </a:rPr>
              <a:t>扉を閉じてロックした状態でのみ回転・発振を許可し、回転中のレバー操作を防ぐ。安全機能は通常制御と別系統で設計者が構成・評価。</a:t>
            </a:r>
          </a:p>
          <a:p>
            <a:pPr algn="l">
              <a:lnSpc>
                <a:spcPts val="1320"/>
              </a:lnSpc>
            </a:pPr>
            <a:r>
              <a:rPr sz="1100" b="0" i="0" lang="ja-JP" altLang="en-US">
                <a:solidFill>
                  <a:srgbClr val="C62828"/>
                </a:solidFill>
                <a:latin typeface="BIZ UDPGothic"/>
                <a:ea typeface="BIZ UDPGothic"/>
                <a:cs typeface="BIZ UDPGothic"/>
              </a:rPr>
              <a:t>停止指令や低速信号だけで完全停止とみなさず、レーザー停止・回転停止を確認してから解錠。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2556000"/>
            <a:ext cx="6120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11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制御の関係（機能名で表示。正式なI/O＝入出力信号の割付は要確認）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000" y="3168000"/>
            <a:ext cx="1872000" cy="86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>
              <a:lnSpc>
                <a:spcPct val="100000"/>
              </a:lnSpc>
            </a:pPr>
            <a:r>
              <a:rPr sz="11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レーザー装置（トルンプ）</a:t>
            </a:r>
          </a:p>
          <a:p>
            <a:pPr algn="ctr">
              <a:lnSpc>
                <a:spcPct val="100000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発振器・照射ヘッド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32000" y="3168000"/>
            <a:ext cx="1944000" cy="86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>
              <a:lnSpc>
                <a:spcPct val="100000"/>
              </a:lnSpc>
            </a:pPr>
            <a:r>
              <a:rPr sz="11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操作画面・PLC</a:t>
            </a:r>
          </a:p>
          <a:p>
            <a:pPr algn="ctr">
              <a:lnSpc>
                <a:spcPct val="100000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品番選択・レシピ管理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80000" y="3168000"/>
            <a:ext cx="1260000" cy="86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>
              <a:lnSpc>
                <a:spcPct val="100000"/>
              </a:lnSpc>
            </a:pPr>
            <a:r>
              <a:rPr sz="11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E2280</a:t>
            </a:r>
          </a:p>
          <a:p>
            <a:pPr algn="ctr">
              <a:lnSpc>
                <a:spcPct val="100000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コントローラー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0000" y="3168000"/>
            <a:ext cx="1404000" cy="86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>
              <a:lnSpc>
                <a:spcPct val="100000"/>
              </a:lnSpc>
            </a:pPr>
            <a:r>
              <a:rPr sz="11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回転部</a:t>
            </a:r>
          </a:p>
          <a:p>
            <a:pPr algn="ctr">
              <a:lnSpc>
                <a:spcPct val="100000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EM-2350J</a:t>
            </a:r>
          </a:p>
          <a:p>
            <a:pPr algn="ctr">
              <a:lnSpc>
                <a:spcPct val="100000"/>
              </a:lnSpc>
            </a:pPr>
            <a:r>
              <a:rPr sz="95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ARG-01・IH-300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32000" y="4536000"/>
            <a:ext cx="1944000" cy="720000"/>
          </a:xfrm>
          <a:prstGeom prst="roundRect">
            <a:avLst/>
          </a:prstGeom>
          <a:solidFill>
            <a:srgbClr val="FFF5F5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tIns="10800" rIns="21600" bIns="10800"/>
          <a:lstStyle/>
          <a:p>
            <a:pPr algn="ctr">
              <a:lnSpc>
                <a:spcPct val="100000"/>
              </a:lnSpc>
            </a:pPr>
            <a:r>
              <a:rPr sz="1150" b="1" i="0" lang="ja-JP" altLang="en-US">
                <a:solidFill>
                  <a:srgbClr val="C62828"/>
                </a:solidFill>
                <a:latin typeface="BIZ UDPGothic"/>
                <a:ea typeface="BIZ UDPGothic"/>
                <a:cs typeface="BIZ UDPGothic"/>
              </a:rPr>
              <a:t>安全回路</a:t>
            </a:r>
          </a:p>
          <a:p>
            <a:pPr algn="ctr">
              <a:lnSpc>
                <a:spcPct val="100000"/>
              </a:lnSpc>
            </a:pPr>
            <a:r>
              <a:rPr sz="10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扉スイッチ・非常停止</a:t>
            </a:r>
          </a:p>
          <a:p>
            <a:pPr algn="ctr">
              <a:lnSpc>
                <a:spcPct val="100000"/>
              </a:lnSpc>
            </a:pPr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（構成・評価は設計で確定）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232000" y="3474000"/>
            <a:ext cx="1800000" cy="0"/>
          </a:xfrm>
          <a:prstGeom prst="line">
            <a:avLst/>
          </a:prstGeom>
          <a:ln w="1905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32000" y="3744000"/>
            <a:ext cx="1800000" cy="0"/>
          </a:xfrm>
          <a:prstGeom prst="line">
            <a:avLst/>
          </a:prstGeom>
          <a:ln w="1905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68000" y="3254400"/>
            <a:ext cx="1728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1000" b="0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プログラム選択・加工開始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8000" y="3765600"/>
            <a:ext cx="1728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1000" b="0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準備完了・加工完了・異常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76000" y="3474000"/>
            <a:ext cx="1404000" cy="0"/>
          </a:xfrm>
          <a:prstGeom prst="line">
            <a:avLst/>
          </a:prstGeom>
          <a:ln w="1905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976000" y="3744000"/>
            <a:ext cx="1404000" cy="0"/>
          </a:xfrm>
          <a:prstGeom prst="line">
            <a:avLst/>
          </a:prstGeom>
          <a:ln w="1905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94000" y="3254400"/>
            <a:ext cx="1368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1000" b="0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起動・停止・速度指令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4000" y="3765600"/>
            <a:ext cx="1368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1000" b="0" i="0" lang="ja-JP" altLang="en-US">
                <a:solidFill>
                  <a:srgbClr val="2E6DB4"/>
                </a:solidFill>
                <a:latin typeface="BIZ UDPGothic"/>
                <a:ea typeface="BIZ UDPGothic"/>
                <a:cs typeface="BIZ UDPGothic"/>
              </a:rPr>
              <a:t>運転中・到達・異常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4000" y="3934800"/>
            <a:ext cx="1368000" cy="1728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9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到達≠速度安定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40000" y="3607200"/>
            <a:ext cx="360000" cy="0"/>
          </a:xfrm>
          <a:prstGeom prst="line">
            <a:avLst/>
          </a:prstGeom>
          <a:ln w="3175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04000" y="3405600"/>
            <a:ext cx="432000" cy="180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950" b="1" i="0" lang="ja-JP" altLang="en-US">
                <a:solidFill>
                  <a:srgbClr val="1B1F24"/>
                </a:solidFill>
                <a:latin typeface="BIZ UDPGothic"/>
                <a:ea typeface="BIZ UDPGothic"/>
                <a:cs typeface="BIZ UDPGothic"/>
              </a:rPr>
              <a:t>動力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800000" y="4968000"/>
            <a:ext cx="2232000" cy="0"/>
          </a:xfrm>
          <a:prstGeom prst="line">
            <a:avLst/>
          </a:prstGeom>
          <a:ln w="2032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800000" y="4032000"/>
            <a:ext cx="0" cy="936000"/>
          </a:xfrm>
          <a:prstGeom prst="line">
            <a:avLst/>
          </a:prstGeom>
          <a:ln w="20320">
            <a:solidFill>
              <a:srgbClr val="C6282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72000" y="4989600"/>
            <a:ext cx="2088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1000" b="0" i="0" lang="ja-JP" altLang="en-US">
                <a:solidFill>
                  <a:srgbClr val="C62828"/>
                </a:solidFill>
                <a:latin typeface="BIZ UDPGothic"/>
                <a:ea typeface="BIZ UDPGothic"/>
                <a:cs typeface="BIZ UDPGothic"/>
              </a:rPr>
              <a:t>発振を遮断（扉開・非常停止）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76000" y="4968000"/>
            <a:ext cx="3726000" cy="0"/>
          </a:xfrm>
          <a:prstGeom prst="line">
            <a:avLst/>
          </a:prstGeom>
          <a:ln w="2032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702000" y="4032000"/>
            <a:ext cx="0" cy="936000"/>
          </a:xfrm>
          <a:prstGeom prst="line">
            <a:avLst/>
          </a:prstGeom>
          <a:ln w="20320">
            <a:solidFill>
              <a:srgbClr val="C6282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20000" y="4989600"/>
            <a:ext cx="3456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1000" b="0" i="0" lang="ja-JP" altLang="en-US">
                <a:solidFill>
                  <a:srgbClr val="C62828"/>
                </a:solidFill>
                <a:latin typeface="BIZ UDPGothic"/>
                <a:ea typeface="BIZ UDPGothic"/>
                <a:cs typeface="BIZ UDPGothic"/>
              </a:rPr>
              <a:t>回転を停止（停止方式・停止の検出は設計で決定）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9702000" y="2880000"/>
            <a:ext cx="0" cy="288000"/>
          </a:xfrm>
          <a:prstGeom prst="line">
            <a:avLst/>
          </a:prstGeom>
          <a:ln w="20320">
            <a:solidFill>
              <a:srgbClr val="D9822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5004000" y="2880000"/>
            <a:ext cx="4698000" cy="0"/>
          </a:xfrm>
          <a:prstGeom prst="line">
            <a:avLst/>
          </a:prstGeom>
          <a:ln w="20320">
            <a:solidFill>
              <a:srgbClr val="D9822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004000" y="2880000"/>
            <a:ext cx="0" cy="288000"/>
          </a:xfrm>
          <a:prstGeom prst="line">
            <a:avLst/>
          </a:prstGeom>
          <a:ln w="20320">
            <a:solidFill>
              <a:srgbClr val="D9822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760000" y="2689200"/>
            <a:ext cx="3744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ctr"/>
            <a:r>
              <a:rPr sz="1000" b="1" i="0" lang="ja-JP" altLang="en-US">
                <a:solidFill>
                  <a:srgbClr val="C8701A"/>
                </a:solidFill>
                <a:latin typeface="BIZ UDPGothic"/>
                <a:ea typeface="BIZ UDPGothic"/>
                <a:cs typeface="BIZ UDPGothic"/>
              </a:rPr>
              <a:t>実回転・停止の確認を取り込む（方法は要検討）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60000" y="4255200"/>
            <a:ext cx="252000" cy="0"/>
          </a:xfrm>
          <a:prstGeom prst="line">
            <a:avLst/>
          </a:prstGeom>
          <a:ln w="19050">
            <a:solidFill>
              <a:srgbClr val="2E6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48000" y="4176000"/>
            <a:ext cx="1224000" cy="165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通常の運転信号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60000" y="4420800"/>
            <a:ext cx="252000" cy="0"/>
          </a:xfrm>
          <a:prstGeom prst="line">
            <a:avLst/>
          </a:prstGeom>
          <a:ln w="20320">
            <a:solidFill>
              <a:srgbClr val="C6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8000" y="4341600"/>
            <a:ext cx="1224000" cy="165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安全機能（別系統）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60000" y="4586400"/>
            <a:ext cx="252000" cy="0"/>
          </a:xfrm>
          <a:prstGeom prst="line">
            <a:avLst/>
          </a:prstGeom>
          <a:ln w="3175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8000" y="4507200"/>
            <a:ext cx="1224000" cy="165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動力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60000" y="4752000"/>
            <a:ext cx="252000" cy="0"/>
          </a:xfrm>
          <a:prstGeom prst="line">
            <a:avLst/>
          </a:prstGeom>
          <a:ln w="20320">
            <a:solidFill>
              <a:srgbClr val="D9822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48000" y="4672800"/>
            <a:ext cx="1224000" cy="165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9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確認方法が要検討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000" y="5371200"/>
            <a:ext cx="9972000" cy="1872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/>
            <a:r>
              <a:rPr sz="115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次の確認</a:t>
            </a:r>
            <a:r>
              <a:rPr sz="10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　確認先は提案です。ナカニシへは9/16に照会済み（受付確認のみ）で、技術回答は未確認。回答期限は要設定。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60000" y="5572799"/>
            <a:ext cx="10044000" cy="0"/>
          </a:xfrm>
          <a:prstGeom prst="line">
            <a:avLst/>
          </a:prstGeom>
          <a:ln w="9525">
            <a:solidFill>
              <a:srgbClr val="AFC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60000" y="5623200"/>
            <a:ext cx="1260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ナカニシ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56000" y="5623200"/>
            <a:ext cx="8748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4機器の接続適合・付属品、装置固定での連続使用、φ1.6 mmコレット、150～4,500 rpmの実現方法、速度設定の刻み・低速安定性、価格・納期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0000" y="6086007"/>
            <a:ext cx="1260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顧客・トルンプ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56000" y="6086007"/>
            <a:ext cx="8748000" cy="444807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品番別の加工径・把持長・突出し・加工位置・線本数と合格見本。既存加工試験の結果、周速の許容範囲、回転との同期要否、正式な光学構成・接続・安全条件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0000" y="6548815"/>
            <a:ext cx="1260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F-Design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56000" y="6548815"/>
            <a:ext cx="8748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回転部の固定・配置・位置調整、配線、停止確認と解錠条件、操作性を含む装置としての成立性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0000" y="6801820"/>
            <a:ext cx="1260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300" b="1" i="0" lang="ja-JP" altLang="en-US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比較候補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56000" y="6801820"/>
            <a:ext cx="8748000" cy="235004"/>
          </a:xfrm>
          <a:prstGeom prst="rect">
            <a:avLst/>
          </a:prstGeom>
          <a:noFill/>
        </p:spPr>
        <p:txBody>
          <a:bodyPr wrap="square" lIns="14400" tIns="12600" rIns="14400" bIns="3600" anchor="t"/>
          <a:lstStyle/>
          <a:p>
            <a:pPr algn="l">
              <a:lnSpc>
                <a:spcPts val="1652"/>
              </a:lnSpc>
            </a:pPr>
            <a:r>
              <a:rPr sz="1400" b="0" i="0" lang="ja-JP" altLang="en-US">
                <a:solidFill>
                  <a:srgbClr val="26323F"/>
                </a:solidFill>
                <a:latin typeface="BIZ UDPGothic"/>
                <a:ea typeface="BIZ UDPGothic"/>
                <a:cs typeface="BIZ UDPGothic"/>
              </a:rPr>
              <a:t>ユキワ精工 LC3-JT0・ゴールド＋主軸＋サーボモーター案（必要に応じ減速・伝達機構）と並べて比較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60000" y="7185600"/>
            <a:ext cx="9972000" cy="0"/>
          </a:xfrm>
          <a:prstGeom prst="line">
            <a:avLst/>
          </a:prstGeom>
          <a:ln w="7620">
            <a:solidFill>
              <a:srgbClr val="C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60000" y="7203600"/>
            <a:ext cx="9000000" cy="2736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l">
              <a:lnSpc>
                <a:spcPts val="1019"/>
              </a:lnSpc>
            </a:pPr>
            <a:r>
              <a:rPr sz="85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参照：20260904打合せ議事録、20260914動作説明（F-Design）、20260914 TruMicroMark制御概要（トルンプ）、20260917案A調査追記版。正式なI/O割付・安全回路は設計で確定。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32000" y="7203600"/>
            <a:ext cx="900000" cy="180000"/>
          </a:xfrm>
          <a:prstGeom prst="rect">
            <a:avLst/>
          </a:prstGeom>
          <a:noFill/>
        </p:spPr>
        <p:txBody>
          <a:bodyPr wrap="square" lIns="21600" tIns="10800" rIns="21600" bIns="10800" anchor="t"/>
          <a:lstStyle/>
          <a:p>
            <a:pPr algn="r"/>
            <a:r>
              <a:rPr sz="900" b="0" i="0" lang="ja-JP" altLang="en-US">
                <a:solidFill>
                  <a:srgbClr val="6B7785"/>
                </a:solidFill>
                <a:latin typeface="BIZ UDPGothic"/>
                <a:ea typeface="BIZ UDPGothic"/>
                <a:cs typeface="BIZ UDPGothic"/>
              </a:rPr>
              <a:t>3／3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